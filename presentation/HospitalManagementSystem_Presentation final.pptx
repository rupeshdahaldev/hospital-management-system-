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0" r:id="rId55"/>
    <p:sldId id="312" r:id="rId56"/>
    <p:sldId id="313" r:id="rId57"/>
    <p:sldId id="311" r:id="rId58"/>
    <p:sldId id="314" r:id="rId59"/>
    <p:sldId id="315" r:id="rId60"/>
    <p:sldId id="316" r:id="rId61"/>
    <p:sldId id="309" r:id="rId6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7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0" y="457200"/>
            <a:ext cx="146304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0" y="457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HMS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Hospital Management 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0" y="251460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A Desktop Application Built with Java Swing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0A4AE"/>
                </a:solidFill>
              </a:rPr>
              <a:t>Language:</a:t>
            </a:r>
            <a:r>
              <a:rPr lang="en-US" sz="1300" dirty="0">
                <a:solidFill>
                  <a:srgbClr val="CFD8DC"/>
                </a:solidFill>
              </a:rPr>
              <a:t>  Java 21     </a:t>
            </a:r>
            <a:r>
              <a:rPr lang="en-US" sz="1300" b="1" dirty="0">
                <a:solidFill>
                  <a:srgbClr val="90A4AE"/>
                </a:solidFill>
              </a:rPr>
              <a:t>UI Framework:</a:t>
            </a:r>
            <a:r>
              <a:rPr lang="en-US" sz="1300" dirty="0">
                <a:solidFill>
                  <a:srgbClr val="CFD8DC"/>
                </a:solidFill>
              </a:rPr>
              <a:t>  Swing     </a:t>
            </a:r>
            <a:r>
              <a:rPr lang="en-US" sz="1300" b="1" dirty="0">
                <a:solidFill>
                  <a:srgbClr val="90A4AE"/>
                </a:solidFill>
              </a:rPr>
              <a:t>Storage:</a:t>
            </a:r>
            <a:r>
              <a:rPr lang="en-US" sz="1300" dirty="0">
                <a:solidFill>
                  <a:srgbClr val="CFD8DC"/>
                </a:solidFill>
              </a:rPr>
              <a:t>  JSON Files (Gson)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Academic Project  |  Computer Science  |  2025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93DDC5-101E-21AD-DEFA-9323245C8F08}"/>
              </a:ext>
            </a:extLst>
          </p:cNvPr>
          <p:cNvSpPr txBox="1"/>
          <p:nvPr/>
        </p:nvSpPr>
        <p:spPr>
          <a:xfrm>
            <a:off x="1476103" y="3198614"/>
            <a:ext cx="6573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Rupesh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Dahal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Prabesh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Basnet , Dharmendra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Devkota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, Anish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91440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Introduction &amp; Problem Statement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26464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426464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42646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42646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Technologies &amp; System Architecture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938528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1938528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93852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193852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Package Structure Deep Dive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450592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450592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45059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45059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Code Understanding (Models, Repos, Services, UI)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962656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962656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96265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296265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OOP Concepts Applied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914400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91440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91440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Data Persistence — JSON File Storage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426464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1426464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142646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142646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Event Handling &amp; Validation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1938528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1938528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193852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193852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System Flow Diagrams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2450592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2450592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245059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245059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Challenges, Limitations &amp; Future Work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2962656"/>
            <a:ext cx="411480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0" y="2962656"/>
            <a:ext cx="4114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0" y="296265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296265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the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 desktop-based Hospital Management System (HMS)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Built entirely in Java using the Swing UI toolkit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Simulates real-world hospital operations in a standalone application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Supports three user roles: Admin, Doctor, and Patient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All data is stored persistently in JSON files on the local file system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No external database, web server, or cloud service required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91440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0" y="914400"/>
            <a:ext cx="91440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Admin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13533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Full system access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Manage all records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24028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2240280"/>
            <a:ext cx="91440" cy="1143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97B"/>
                </a:solidFill>
              </a:rPr>
              <a:t>Doctor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679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View appointments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Complete patient visits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3566160"/>
            <a:ext cx="91440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</a:rPr>
              <a:t>Patient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40050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View own records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Track appointments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</a:rPr>
              <a:t>The Challenge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Manual hospital record-keeping is error-prone and time-consuming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No centralised system for managing patients, doctors, and appointments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Scheduling conflicts occur without a shared appointment system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Patient medical history scattered across physical files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No role-based access — all staff access all records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No persistence: records lost when spreadsheet is closed or overwritten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914400"/>
            <a:ext cx="2834640" cy="32918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10241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Without HMS: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1444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360C"/>
                </a:solidFill>
              </a:rPr>
              <a:t>✕  Lost records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360C"/>
                </a:solidFill>
              </a:rPr>
              <a:t>✕  Double bookings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22494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360C"/>
                </a:solidFill>
              </a:rPr>
              <a:t>✕  No access control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651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360C"/>
                </a:solidFill>
              </a:rPr>
              <a:t>✕  Manual billing errors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30540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360C"/>
                </a:solidFill>
              </a:rPr>
              <a:t>✕  No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97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297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Role-Based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4447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Separate login for Admin, Doctor, Patient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97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2976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</a:rPr>
              <a:t>Patient Management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14447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Register, update, search, delete patient records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2286000"/>
            <a:ext cx="4297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4297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423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Doctor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" y="28163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Onboard doctors with specialization &amp; department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4297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2976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73752" y="2423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</a:rPr>
              <a:t>Appointment Scheduling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73752" y="28163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Book, cancel, and complete appointments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3657600"/>
            <a:ext cx="4297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3657600"/>
            <a:ext cx="4297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3794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Bed Management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Track ICU, General, Emergency bed availability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657600"/>
            <a:ext cx="4297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657600"/>
            <a:ext cx="42976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73752" y="3794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</a:rPr>
              <a:t>Data Persistence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73752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All records survive app restart via JSON storage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Technologies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Java 21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Primary programming language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OOP, generics, streams, lambdas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914400"/>
            <a:ext cx="27432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</a:rPr>
              <a:t>Java Swing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48132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Desktop UI framework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JFrame, JPanel, JTable, JComboBox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Gson 2.10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48132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Google JSON library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Serialization / deserialization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292608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2926080"/>
            <a:ext cx="27432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</a:rPr>
              <a:t>JSON Files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34930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Flat-file persistence layer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No database required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292608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54680" y="292608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Java.util.concurrent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34930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Thread-safe file I/O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ReentrantReadWriteLock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2926080"/>
            <a:ext cx="27432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364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</a:rPr>
              <a:t>JDK 21 API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34930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LocalDate, streams, records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Modern Java features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Standalone Java desktop application — no server, no internet needed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Three-tier internal architecture: UI → Service → Repository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User authenticates via role-based login (Admin / Doctor / Patient)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Admin can manage all entities: patients, doctors, appointments, beds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Doctor dashboard: view assigned appointments, complete visits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Patient dashboard: view own appointments and admission records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All state is saved to JSON files on disk after every write operation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108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60720" y="914400"/>
            <a:ext cx="82296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987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UI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3167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Swing JFrames, JPanels, JTables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7556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920240"/>
            <a:ext cx="3108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60720" y="1920240"/>
            <a:ext cx="82296" cy="8412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0" y="1993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Service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3225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Business logic, validation, auth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27614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2926080"/>
            <a:ext cx="3108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60720" y="2926080"/>
            <a:ext cx="82296" cy="8412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2999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Repository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33284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Read / write JSON files via Gson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3767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3931920"/>
            <a:ext cx="3108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60720" y="3931920"/>
            <a:ext cx="82296" cy="84124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0" y="4005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4A4A"/>
                </a:solidFill>
              </a:rPr>
              <a:t>Data Files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43342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users.json, patients.json, beds.json …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777240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914400"/>
            <a:ext cx="10972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9601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PRESENTATION LAYER  (com.hospital.ui)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2984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LoginFrame  ·  AdminDashboardFrame  ·  DoctorDashboardFrame  ·  PatientDashboardFrame  ·  RoleSelectionFrame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719072"/>
            <a:ext cx="0" cy="18288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901952"/>
            <a:ext cx="777240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901952"/>
            <a:ext cx="109728" cy="8046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1947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</a:rPr>
              <a:t>SERVICE LAYER  (com.hospital.service)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2860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AuthService  ·  PatientService  ·  DoctorService  ·  AppointmentService  ·  BedService  ·  NotificationService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706624"/>
            <a:ext cx="0" cy="18288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2889504"/>
            <a:ext cx="777240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2889504"/>
            <a:ext cx="109728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6968" y="293522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REPOSITORY LAYER  (com.hospital.data)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32735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JsonRepository&lt;T&gt;  ·  UserRepository  ·  PatientRepository  ·  AppointmentRepository  ·  BedRepository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694176"/>
            <a:ext cx="0" cy="18288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3877056"/>
            <a:ext cx="777240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3877056"/>
            <a:ext cx="109728" cy="8046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" y="39227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PERSISTENCE  (data/)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6968" y="426110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users.json  ·  patients.json  ·  appointments.json  ·  beds.json  ·  notifications.json  ·  admissions.json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Frontend vs Backend Logic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1148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1148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 (com.hospital.ui)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JFrame / JPanel components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JTable for data display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JTextField, JComboBox inputs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Event listeners (ActionListener)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DocumentFilter for validation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Calls Service layer methods only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2468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897B"/>
                </a:solidFill>
              </a:rPr>
              <a:t>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41148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41148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 (service + data + model)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Model classes (User, Doctor, Patient…)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Service classes (business logic)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Repository classes (file I/O)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Gson serialization / deserialization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Validation utilities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Exception handling layer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Java Swing —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Swing is Java's built-in GUI toolkit (part of javax.swing)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Provides widgets: JFrame, JPanel, JButton, JTable, JComboBox…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Event-driven: user actions trigger ActionListeners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All UI runs on the Event Dispatch Thread (EDT)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Does NOT need a web browser or external runtime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Layouts control how components are arranged: BorderLayout, GridLayout, BoxLayout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200400" cy="3474720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788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Swing Components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JFrame — main window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97880" y="1709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JPanel — layout container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20025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JTabbedPane — tabbed views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97880" y="2295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JTable — data grids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2587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JTextField + PlaceholderTextField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2880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JComboBox — dropdowns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3172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JSpinner — date picker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34655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JButton — actions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37581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JSplitPane — resizable panels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40507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» JOptionPane — dialogs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UI Design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Every screen is a JFrame with BorderLayout as root layout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TOP: Header bar (dark background, title, action buttons)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CENTER: </a:t>
            </a:r>
            <a:r>
              <a:rPr lang="en-US" sz="1500" dirty="0" err="1">
                <a:solidFill>
                  <a:srgbClr val="212121"/>
                </a:solidFill>
              </a:rPr>
              <a:t>JTabbedPane</a:t>
            </a:r>
            <a:r>
              <a:rPr lang="en-US" sz="1500" dirty="0">
                <a:solidFill>
                  <a:srgbClr val="212121"/>
                </a:solidFill>
              </a:rPr>
              <a:t> each tab is a separate functional area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Each tab: </a:t>
            </a:r>
            <a:r>
              <a:rPr lang="en-US" sz="1500" dirty="0" err="1">
                <a:solidFill>
                  <a:srgbClr val="212121"/>
                </a:solidFill>
              </a:rPr>
              <a:t>JSplitPane</a:t>
            </a:r>
            <a:r>
              <a:rPr lang="en-US" sz="1500" dirty="0">
                <a:solidFill>
                  <a:srgbClr val="212121"/>
                </a:solidFill>
              </a:rPr>
              <a:t>  JTable (left) + Form panel (right)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Form panel: GridLayout for label-input pairs, FlowLayout for buttons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PlaceholderTextField custom component for hint text in inputs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868680"/>
            <a:ext cx="3291840" cy="406908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0" y="868680"/>
            <a:ext cx="329184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1500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Header (Title + Buttons)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0" y="1280160"/>
            <a:ext cx="3291840" cy="292608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15000" y="1325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</a:rPr>
              <a:t>Tab1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766560" y="1325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</a:rPr>
              <a:t>Tab2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18120" y="1325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</a:rPr>
              <a:t>Tab3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0" y="1572768"/>
            <a:ext cx="19202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1500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JTable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(data list)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2331720"/>
            <a:ext cx="182880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5000" y="2651760"/>
            <a:ext cx="182880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15000" y="2971800"/>
            <a:ext cx="182880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15000" y="3291840"/>
            <a:ext cx="182880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15000" y="3611880"/>
            <a:ext cx="182880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15000" y="3931920"/>
            <a:ext cx="182880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89520" y="1572768"/>
            <a:ext cx="1371600" cy="2880360"/>
          </a:xfrm>
          <a:prstGeom prst="rect">
            <a:avLst/>
          </a:prstGeom>
          <a:solidFill>
            <a:srgbClr val="F8F9FF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3524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Form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(inputs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buttons)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1A3050"/>
                </a:solidFill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Package Structure Deep Dive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6 packages, each with a clear responsibility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Package Overview — All 6 Packages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686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82296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50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com.hospital.model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252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Entity classes - the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572768"/>
            <a:ext cx="8686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1572768"/>
            <a:ext cx="82296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609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com.hospital.data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18836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Repositories -read/write 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231136"/>
            <a:ext cx="8686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2231136"/>
            <a:ext cx="82296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com.hospital.service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25420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Services - business logic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2889504"/>
            <a:ext cx="8686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2889504"/>
            <a:ext cx="82296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com.hospital.ui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200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Swing frames - the GUI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3547872"/>
            <a:ext cx="8686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3547872"/>
            <a:ext cx="82296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com.hospital.util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38587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Utilities - helpers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4206240"/>
            <a:ext cx="8686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4206240"/>
            <a:ext cx="82296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4242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com.hospital.exception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" y="451713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Custom exceptions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Package: com.hospital.model — 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Contains all entity / data classes for the application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Each class represents a real-world object (User, Doctor, Patient…)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These are Plain Old Java Objects (POJOs) — no business logic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All fields are private with getters and setters (Encapsulation)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Gson uses these classes to serialize/deserialize JSON files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Abstract class User is the root of the user hierarchy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200400" cy="3474720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788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Classes in model/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44475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(abstract)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 extends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21284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 extends User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259689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 extends User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98094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36499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374904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413308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— Abstract User Class (Code)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Why abstract? Gson cannot instantiate abstract classes directly — a custom UserDeserializer reads the 'role' field and creates the correct subtype.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8503920" cy="3291840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828446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User implements Serializable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userId;      // e.g. "U-DOC-000001"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username;    // login credential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password;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fullName;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email;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phone;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role;        // "ADMIN" | "DOCTOR" | "PATIENT"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All fields private → getters/setters only (Encapsulation)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getRole()  { return role;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  setRole(String role) { this.role = role;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Subclasses MUST implement this (Abstraction)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abstract String getDisplayInfo();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Package: com.hospital.data — 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Repository layer — handles all reading and writing to JSON files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JsonRepository&lt;T&gt; is the abstract base class (Template Method pattern)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Each concrete repository handles one entity type and one JSON file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ReentrantReadWriteLock ensures thread-safe concurrent file access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Gson converts Java objects ↔ JSON text automatically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If a data file does not exist, it is created automatically on first run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200400" cy="3474720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788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Classes in data/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4447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JsonRepository&lt;T&gt;  (abstract)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7465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UserRepository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0482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PatientRepository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350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AppointmentRepository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BedRepository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9535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AdmissionRepository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32552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NotificationRepository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35570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UserDeserializer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8587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LocalDateAdapter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LocalDateTimeAdapter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— JsonRepository&lt;T&gt; (Code)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Abstract generic repository — all 7 concrete repos extend this class.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4290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828446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JsonRepository&lt;T&gt; implements Repository&lt;T&gt;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final String filePath;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final Type   listType;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final Gson   gson;       // configured per subclass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ReentrantReadWriteLock rwLock = new ReentrantReadWriteLock();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Subclasses override this to add custom type adapters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Gson buildGson() { /* default: date adapters only */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List&lt;T&gt; readFromFile()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(Reader r = new FileReader(filePath))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List&lt;T&gt; list = gson.fromJson(r, listType);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list != null ? list : new ArrayList&lt;&gt;();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(IOException | RuntimeException 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BUG 2 FIX: catch RuntimeException (JsonIOException)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System.err.println("JSON error in " + filePath + ": " + e.getMessage());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new ArrayList&lt;&gt;();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abstract String getId(T entity); // implemented by each repo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Package: com.hospital.service — 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Contains all business logic — sits between UI and repositories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UI never talks directly to repositories; it always goes through services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Services validate input before passing data to repositories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Services throw custom exceptions for invalid operations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AuthService handles login authentication and session tracking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Each domain has its own service: Patient, Doctor, Appointment, Bed…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200400" cy="3474720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788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Classes in service/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4447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8653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27066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1272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5478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39684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NotificationService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service — AuthService (Code)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Handles login authentication. Uses UserRepository to find user by username, validates password.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4290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828446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AuthService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UserRepository userRepository;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User currentUser;   // session: who is logged in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User login(String username, String password)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throws InvalidCredentialsException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 user = userRepository.findByUsername(username);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(user == null)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InvalidCredentialsException("Username not found");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(!user.getPassword().equals(password))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InvalidCredentialsException("Incorrect password");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this.currentUser = user;    // store session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user;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logout()           { this.currentUser = null;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User getCurrentUser()   { return currentUser;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Package: com.hospital.ui — 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All Swing GUI code lives here — what the user sees and interacts with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Each screen is a JFrame subclass with its own initComponents() method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Frames communicate with services (never with repositories directly)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PlaceholderTextField — custom JTextField showing greyed hint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No business logic in UI classes — only event handling and display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LoginFrame holds the shared colour palette (static constants)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200400" cy="3474720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788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Classes in ui/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4447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LoginFrame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9019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RoleSelectionFrame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3591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AdminDashboardFrame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28163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DoctorDashboardFrame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2735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PatientDashboardFrame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7307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PlaceholderTextField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Packages: util + exception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2062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com.hospital.util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DataInitializer — seeds sample Admin, Doctors, Patients, Beds on first run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IdGenerator — generates unique IDs (PAT-000001, DOC-000001, APT-…)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ValidationUtil — email regex, phone digits, age range, password length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DateUtil — LocalDate formatting helpers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2062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com.hospital.exception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InvalidCredentialsException — wrong username or password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EntityNotFoundException — record not found by ID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DuplicateEntityException — username already exists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InvalidInputException — validation failed (email, age, phone)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1A3050"/>
                </a:solidFill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Code Deep Dive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Important classes and code snippets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Inheritance Hierarchy — User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256032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914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(abstract)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0" cy="45720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0" y="2011680"/>
            <a:ext cx="585216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65514" y="2011680"/>
            <a:ext cx="0" cy="36576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88720" y="2377440"/>
            <a:ext cx="201168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29718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username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accessLevel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011680"/>
            <a:ext cx="0" cy="36576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0" y="2377440"/>
            <a:ext cx="201168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29718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30632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availableTimeSlots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2011680"/>
            <a:ext cx="0" cy="36576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2377440"/>
            <a:ext cx="201168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29718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0632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age, gender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bloodGroup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assignedDoctorId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solidFill>
            <a:srgbClr val="B2DFDB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55371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695C"/>
                </a:solidFill>
              </a:rPr>
              <a:t>All three inherit: userId, username, password, fullName, email, phone, role — from the abstract User class.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— Doctor Class (Inheritance Example)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Doctor extends User and adds medical-specific fields.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34564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8284464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Doctor extends User {          // INHERITANCE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doctorId;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specialization;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qualification;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List&lt;String&gt; availableTimeSlots;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   experienceYears;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department;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Doctor(String userId, String username, String password,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String fullName, String email, String phone,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String doctorId, String specialization, ...)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Call parent constructor (super)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super(userId, username, password, fullName, email, phone, "DOCTOR");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this.doctorId       = doctorId;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this.specialization = specialization;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                          // POLYMORPHISM — method overriding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getDisplayInfo()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"Dr. " + getFullName() + " | " + specialization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 | " + experienceYears + " yrs exp.";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— UserDeserializer (Critical Bug Fix)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Problem: Gson cannot instantiate an abstract class. Fix: a custom deserializer reads the 'role' field and creates the correct concrete type.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8503920" cy="3364992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8284464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UserDeserializer implements JsonDeserializer&lt;User&gt;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User deserialize(JsonElement json, Type typeOfT,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JsonDeserializationContext context)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throws JsonParseException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JsonObject obj  = json.getAsJsonObject();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    role = obj.get("role").getAsString();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(role)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"ADMIN"   : return context.deserialize(json, Admin.class);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"DOCTOR"  : return context.deserialize(json, Doctor.class);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"PATIENT" : return context.deserialize(json, Patient.class);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default        : throw new JsonParseException("Unknown role: " + role);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service — DoctorService (Safe Casting)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Before the fix: direct cast crashed with ClassCastException. After: instanceof check guards the cast.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2651760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82844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BEFORE (Bug 4 — unsafe cast)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List&lt;Doctor&gt; getDoctors()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userRepository.findByRole("DOCTOR").stream()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.map(user -&gt; (Doctor) user)   // ClassCastException!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.toList();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AFTER (fixed with instanceof check)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List&lt;Doctor&gt; getDoctors()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userRepository.findByRole("DOCTOR").stream()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.filter(user -&gt; user instanceof Doctor)  // safe guard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.map(user -&gt; (Doctor) user)              // now safe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.toList();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4114800"/>
            <a:ext cx="8503920" cy="713232"/>
          </a:xfrm>
          <a:prstGeom prst="rect">
            <a:avLst/>
          </a:prstGeom>
          <a:solidFill>
            <a:srgbClr val="B2DFDB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1879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695C"/>
                </a:solidFill>
              </a:rPr>
              <a:t>This fix works together with UserDeserializer (Bug 1). Once Gson correctly deserializes a Doctor object, the instanceof check passes and the cast succeeds.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ui — LoginFrame (Event Handling)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Login button calls handleLogin() — this is Swing event-driven programming.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3493008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8284464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handleLogin()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username = usernameField.getText().trim();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password = new String(passwordField.getPassword());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(username.isEmpty() || password.isEmpty())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showError("Please enter username and password.");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 user = authService.login(username, password);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(user.getRole()) {          // role-based navigation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"ADMIN"   -&gt; new AdminDashboardFrame(authService).setVisible(true);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"DOCTOR"  -&gt; new DoctorDashboardFrame(authService).setVisible(true);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"PATIENT" -&gt; new PatientDashboardFrame(authService).setVisible(true);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dispose();    // close login window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(InvalidCredentialsException e) { showError(e.getMessage());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catch (Exception e) {                   // Bug 3 fix: catch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e.printStackTrace();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showError("Login failed. Please try again.");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ui — AdminDashboardFrame (JTable Setup)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Tables are built with DefaultTableModel and a helper that applies consistent styling.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34564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8284464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non-editable table model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patientTableModel = new DefaultTableModel(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String[]{"Patient ID","Full Name","Age","Gender","Blood Group","Phone"}, 0)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boolean isCellEditable(int r, int c) { return false;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patientTable = buildTable(patientTableModel);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Clicking a row pre-fills the form fields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patientTable.getSelectionModel().addListSelectionListener(e -&gt;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(!e.getValueIsAdjusting()) populatePatientForm();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Styling helper applied to every 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JTable buildTable(DefaultTableModel model)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JTable t = new JTable(model);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t.setRowHeight(28);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t.getTableHeader().setBackground(LoginFrame.PRIMARY);   // blue header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t.getTableHeader().setForeground(Color.WHITE);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t.setSelectionBackground(new Color(232, 234, 246));     // highlight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t.setGridColor(LoginFrame.BORDER_COLOR);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util — DataInitializer (Seed Data)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Runs once at startup. Populates the system with default Admin, Doctors, Patients, and Beds.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34564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8284464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Bug 5 fix: 4 independent try-catch blocks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so one failure doesn't stop others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--- Admin (separate block) 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(userRepo.findByUsername("admin") == null)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userRepo.save(new Admin("U-A001","admin","admin123",...));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(Exception e) { System.err.println("Admin init error: " + e);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--- Doctors (separate block) 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(doctorService.getDoctors().isEmpty())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doctorService.addDoctor("doctor1","doc123","Dr. Sarah Johnson",...);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doctorService.addDoctor("doctor2","doc123","Dr. Michael Chen",...);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(Exception e) { e.printStackTrace();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--- Beds (separate block) 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(bedService.getAllBeds().isEmpty())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bedService.addBed("ICU-01","ICU",500.0);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... more beds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(Exception e) { e.printStackTrace(); }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1A3050"/>
                </a:solidFill>
              </a:rPr>
              <a:t>04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OOP Concepts Applied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Inheritance · Encapsulation · Polymorphism · Abstraction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 Pillars of OOP in This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25196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Inheritance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Admin, Doctor, Patient all extend the abstract User class.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They reuse common fields (userId, username, role) from the parent.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5196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914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Encapsulation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417320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All model fields are private.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Only accessible via public getters and setters.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External code cannot directly modify internal state.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2880360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2880360"/>
            <a:ext cx="425196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8803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Polymorphism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" y="3383280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getDisplayInfo() is defined in User and overridden in each subclass.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LoginFrame uses instanceof to dispatch to the correct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25196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Abstraction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JsonRepository&lt;T&gt; is abstract — defines the contract (findAll, save, delete).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User is abstract — forces subclasses to implement getDisplayInfo().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Encapsulation — Code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All fields in model classes are declared private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Public getters and setters provide controlled access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External classes cannot accidentally modify internal state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ValidationUtil checks data before it enters the model layer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PatientService calls ValidationUtil before calling repository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60520" y="914400"/>
            <a:ext cx="4754880" cy="3383280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70248" y="1005840"/>
            <a:ext cx="453542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Private fields — direct access blocked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Patient extends User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patientId;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   age;          // cannot set to -1 from outside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bloodGroup;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Controlled access via getters/setters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getAge()            { return age;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setAge(int age)    { this.age = age;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 validates BEFORE setting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ValidationUtil.validateAge(age);   // throws if &lt; 0 or &gt; 150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p = new Patient(..., age, ...);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Polymorphism — Code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Same method name getDisplayInfo(), different behaviour per class.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34564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8284464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User (abstract — forces every subclass to implement)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String getDisplayInfo();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Admin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getDisplayInfo()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"Admin: " + getFullName() + " | Dept: " + department;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Doctor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getDisplayInfo()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"Dr. " + getFullName() + " | " + specialization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+ " | " + experienceYears + " yrs exp.";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Patient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getDisplayInfo()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"Patient: " + getFullName()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+ " | Age: " + age + " | Blood: " + bloodGroup;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LoginFrame uses instanceof for role-based navigation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 instanceof Doctor)  { /* open doctor dashboard */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 instanceof Patient) { /* open patient dashboard */ }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1A3050"/>
                </a:solidFill>
              </a:rPr>
              <a:t>05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Persistence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How data survives after the application closes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Persistence — JSON File Storage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No database (no MySQL, SQLite, H2) is used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All data is stored in plain JSON files on the local file system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The Gson library (Google) converts Java objects to/from JSON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Files are stored in the data/ directory next to the application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On every write (add, update, delete), the full list is re-serialized to the file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On every read (load data), the JSON file is deserialized back to Java objects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If the data/ folder does not exist, it is created automatically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200400" cy="3657600"/>
          </a:xfrm>
          <a:prstGeom prst="rect">
            <a:avLst/>
          </a:prstGeom>
          <a:solidFill>
            <a:srgbClr val="E3F2FD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788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Data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4447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data/users.json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95681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data/patients.json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4688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data/appointments.json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298094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data/beds.json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349300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data/admissions.json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400507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data/notifications.json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JSON File — What It Looks Like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Sample contents of data/users.json after the system initializes: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34564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8284464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"userId":    "U-A001",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"username":  "admin",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"password":  "admin123",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"fullName":  "System Admin",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"email":     "admin@hospital.com",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"phone":     "1234567890",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     "ADMIN",          ← used by UserDeserializer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"department":"IT",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"accessLevel":"SUPER_ADMIN"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"userId":         "U-DOC-000001",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"username":       "doctor1",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          "DOCTOR",    ← tells Gson to create Doctor object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"specialization": "Cardiology",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"experienceYears": 10,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"department":     "Cardiology"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Gson — Serialization &amp; Deserialization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Gson converts between Java objects and JSON text. Configured once per repository.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34564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8284464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 Gson is configured in UserRepository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Gson buildGson()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GsonBuilder()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.setPrettyPrinting()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.registerTypeAdapter(LocalDate.class,     new LocalDateAdapter())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.registerTypeAdapter(LocalDateTime.class, new LocalDateTimeAdapter())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.registerTypeAdapter(User.class, new UserDeserializer())  // ← Bug 1 fix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.create();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Writing to file (serialize Java → JSON)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void writeToFile(List&lt;T&gt; entities)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(Writer writer = new FileWriter(filePath))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gson.toJson(entities, writer);   // entire list to JSON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Reading from file (deserialize JSON → Java)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List&lt;T&gt; readFromFile()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(Reader reader = new FileReader(filePath))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gson.fromJson(reader, listType);  // JSON → List&lt;T&gt;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Thread Safety — ReentrantReadWriteLock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Multiple Swing event handlers can trigger simultaneously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Without locks, two threads could write/read the same file at the same time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ReentrantReadWriteLock allows multiple concurrent reads OR one exclusive write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readLock() is acquired before every findAll() / findById()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writeLock() is acquired before every save() / update() / delete()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Lock is released in finally block — always released even if exception occurs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92040" y="914400"/>
            <a:ext cx="4023360" cy="3474720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01768" y="1005840"/>
            <a:ext cx="380390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ReentrantReadWriteLock rwLock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ReentrantReadWriteLock();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Lock readLock  = rwLock.readLock();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Lock writeLock = rwLock.writeLock();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List&lt;T&gt; findAll()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readLock.lock();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readFromFile();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finally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readLock.unlock();  // always released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1A3050"/>
                </a:solidFill>
              </a:rPr>
              <a:t>06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Event Handling &amp; Input Validation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How user actions trigger logic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Event Handling in Swing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Swing is event-driven — user actions call listener methods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ActionListener fires when a button is clicked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ListSelectionListener fires when a table row is selected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DocumentFilter intercepts keystrokes before they reach the text field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MouseAdapter handles hover colour changes on buttons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All event handlers run on the Event Dispatch Thread (EDT)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60520" cy="3474720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1005840"/>
            <a:ext cx="39410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Button click → action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loginButton.addActionListener(e -&gt; handleLogin());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Table row select → populate 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table.getSelectionModel().addListSelectionListener(e -&gt;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(!e.getValueIsAdjusting()) populatePatientForm();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Hover effect on button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btn.addMouseListener(new MouseAdapter()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mouseEntered(MouseEvent 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btn.setBackground(hoverColor);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mouseExited(MouseEvent 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btn.setBackground(normalColor);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Input Validation — Multiple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Layer 1 — DocumentFilter: blocks non-digit keystrokes in numeric fields at input time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Layer 2 — Form validation in UI: checks all fields before calling the service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Layer 3 — ValidationUtil in service layer: final check before data is saved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Username: 4–20 chars, letters/digits/underscores only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Phone / Emergency Contact: exactly 10 digits (enforced by DocumentFilter)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Email: must match regex  ^[A-Za-z0-9+_.-]+@.+\..+$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3886200" cy="3520440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38928" y="1005840"/>
            <a:ext cx="366674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DocumentFilter — blocks non-digits at keystroke level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((AbstractDocument)phoneField.getDocument())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.setDocumentFilter(new DocumentFilter()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public void replace(FilterBypass fb, int off,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int len, String text, AttributeSet 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throws BadLocationException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newLen = fb.getDocument().getLength()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- len + text.length();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(newLen &lt;= 10 &amp;&amp; text.matches("[0-9]*"))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super.replace(fb, off, len, text, a);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Form validation before service call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(!email.matches("^[A-Za-z0-9+_.-]+@.+\..+$"))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validErr("Enter a valid email address.");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1A3050"/>
                </a:solidFill>
              </a:rPr>
              <a:t>07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 Flow Diagrams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User flow · Login flow · Data flow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Login Flow — Step by Step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43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686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75488" cy="5212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914400"/>
            <a:ext cx="475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9509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User opens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1887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HospitalApp.main() → DataInitializer runs → LoginFrame shown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99616"/>
            <a:ext cx="8686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2880" y="1499616"/>
            <a:ext cx="475488" cy="5212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1499616"/>
            <a:ext cx="475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536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Enter credentials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177393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Username + Password typed into LoginFrame fields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084832"/>
            <a:ext cx="8686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2084832"/>
            <a:ext cx="475488" cy="5212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" y="2084832"/>
            <a:ext cx="475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121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</a:rPr>
              <a:t>Click Login button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3591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handleLogin() called — empty check first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670048"/>
            <a:ext cx="8686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2670048"/>
            <a:ext cx="475488" cy="5212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" y="2670048"/>
            <a:ext cx="475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06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AuthService.login()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29443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Finds user by username in UserRepository → checks password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3255264"/>
            <a:ext cx="8686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255264"/>
            <a:ext cx="475488" cy="5212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2880" y="3255264"/>
            <a:ext cx="475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</a:rPr>
              <a:t>Role-based navigation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352958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switch(user.getRole()) → opens Admin / Doctor / Patient dashboard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" y="3840480"/>
            <a:ext cx="8686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3840480"/>
            <a:ext cx="475488" cy="5212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" y="3840480"/>
            <a:ext cx="475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38770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Dashboard loads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411480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loadDoctorInfo() / loadPatientInfo() called before initComponents()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4425696"/>
            <a:ext cx="8686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82880" y="4425696"/>
            <a:ext cx="475488" cy="5212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2880" y="4425696"/>
            <a:ext cx="475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4462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On bad credentials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" y="47000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InvalidCredentialsException caught → showError() on screen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Admin Operations Flow — Add Patient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44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517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914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fills 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00584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914400"/>
            <a:ext cx="26517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28416" y="914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Click 'Add Patient' btn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70448" y="100584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71616" y="914400"/>
            <a:ext cx="265176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81344" y="914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validatePatientForm()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0336" y="13898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265176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01168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PatientService.addPatient()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10312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18688" y="2011680"/>
            <a:ext cx="265176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28416" y="201168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ValidationUtil 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70448" y="210312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71616" y="2011680"/>
            <a:ext cx="265176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81344" y="201168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PatientRepository.save()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0336" y="24871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265176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10896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UserRepository.save()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2004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18688" y="3108960"/>
            <a:ext cx="26517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28416" y="310896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writeToFile() → JSON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70448" y="32004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71616" y="3108960"/>
            <a:ext cx="26517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81344" y="310896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Table reloaded from disk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B2DFDB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432511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695C"/>
                </a:solidFill>
              </a:rPr>
              <a:t>Key: Patient is saved to BOTH patientRepository (patients.json) and userRepository (users.json) — dual storage is intentional for search flexibility.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Complete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45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503" y="1011718"/>
            <a:ext cx="1920240" cy="2194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945" y="11155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(Human)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" y="178308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Types 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Clicks buttons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00646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0BEC5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344783" y="1011718"/>
            <a:ext cx="1920240" cy="2194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82665" y="10972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UI Layer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(Swing)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36223" y="182292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Collects 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Validates 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Calls 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73583" y="1809859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0BEC5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8532" y="1011718"/>
            <a:ext cx="1920240" cy="2194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22223" y="1113609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 Layer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(Logic)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5286" y="183435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Validates again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Applies rules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Calls repository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1206" y="17785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0BEC5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995160" y="1011718"/>
            <a:ext cx="1920240" cy="21945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1071481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Repository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(Data)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86600" y="1793204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Reads/writes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JSON file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</a:rPr>
              <a:t>Thread-safe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95160" y="3383280"/>
            <a:ext cx="1920240" cy="80467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95160" y="338328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disk: data/*.json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3200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</a:rPr>
              <a:t>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B2DFDB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32511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695C"/>
                </a:solidFill>
              </a:rPr>
              <a:t>Read path: disk → Repository → Service → UI → User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695C"/>
                </a:solidFill>
              </a:rPr>
              <a:t>Write path: User → UI → Service → Repository → disk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Notification System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46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When Admin schedules an appointment, NotificationService is triggered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Two notifications are created: one for the Doctor, one for the Patient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Recipient ID is stored as 'U-' + roleId (e.g. U-DOC-000001)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Notifications are saved to data/notifications.json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Doctor dashboard loads notifications by userId on the Notifications tab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findUnreadByRecipientId() filters by userId and isRead == false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3886200" cy="3520440"/>
          </a:xfrm>
          <a:prstGeom prst="rect">
            <a:avLst/>
          </a:prstGeom>
          <a:solidFill>
            <a:srgbClr val="1A2332"/>
          </a:solidFill>
          <a:ln w="12700">
            <a:solidFill>
              <a:srgbClr val="2D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38928" y="1005840"/>
            <a:ext cx="366674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scheduling appointment: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notificationService.sendAppointmentNotification(appointment);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NotificationService: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doctorUserId  = "U-" + appointment.getDoctorId();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patientUserId = "U-" + appointment.getPatientId();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notificationRepository.save(new Notification(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IdGenerator.generateNotificationId(),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doctorUserId,               // ← matches getUserId()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"DOCTOR",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 Appointment",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"Scheduled for " + date,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"APPOINTMENT"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1A3050"/>
                </a:solidFill>
              </a:rPr>
              <a:t>08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Challenges, Limitations &amp; Future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What we fixed, what remains, what comes next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 &amp; How They Were Solved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48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160520" cy="512064"/>
          </a:xfrm>
          <a:prstGeom prst="rect">
            <a:avLst/>
          </a:prstGeom>
          <a:solidFill>
            <a:srgbClr val="FFF3E0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43400" y="914400"/>
            <a:ext cx="4526280" cy="512064"/>
          </a:xfrm>
          <a:prstGeom prst="rect">
            <a:avLst/>
          </a:prstGeom>
          <a:solidFill>
            <a:srgbClr val="E8F5E9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9601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360C"/>
                </a:solidFill>
              </a:rPr>
              <a:t>✕  Gson cannot instantiate abstract class User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53128" y="96012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✓  Created UserDeserializer — reads 'role' field, creates correct subtype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90472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2880" y="1490472"/>
            <a:ext cx="4160520" cy="512064"/>
          </a:xfrm>
          <a:prstGeom prst="rect">
            <a:avLst/>
          </a:prstGeom>
          <a:solidFill>
            <a:srgbClr val="FFF3E0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43400" y="1490472"/>
            <a:ext cx="4526280" cy="512064"/>
          </a:xfrm>
          <a:prstGeom prst="rect">
            <a:avLst/>
          </a:prstGeom>
          <a:solidFill>
            <a:srgbClr val="E8F5E9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153619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360C"/>
                </a:solidFill>
              </a:rPr>
              <a:t>✕  JsonIOException was not caught (silent failure)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53128" y="153619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✓  Added catch(RuntimeException) in readFromFile()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066544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2066544"/>
            <a:ext cx="4160520" cy="512064"/>
          </a:xfrm>
          <a:prstGeom prst="rect">
            <a:avLst/>
          </a:prstGeom>
          <a:solidFill>
            <a:srgbClr val="FFF3E0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43400" y="2066544"/>
            <a:ext cx="4526280" cy="512064"/>
          </a:xfrm>
          <a:prstGeom prst="rect">
            <a:avLst/>
          </a:prstGeom>
          <a:solidFill>
            <a:srgbClr val="E8F5E9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211226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360C"/>
                </a:solidFill>
              </a:rPr>
              <a:t>✕  Login silently failed on unexpected errors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53128" y="2112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✓  Added generic catch(Exception) in handleLogin()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642616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2642616"/>
            <a:ext cx="4160520" cy="512064"/>
          </a:xfrm>
          <a:prstGeom prst="rect">
            <a:avLst/>
          </a:prstGeom>
          <a:solidFill>
            <a:srgbClr val="FFF3E0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43400" y="2642616"/>
            <a:ext cx="4526280" cy="512064"/>
          </a:xfrm>
          <a:prstGeom prst="rect">
            <a:avLst/>
          </a:prstGeom>
          <a:solidFill>
            <a:srgbClr val="E8F5E9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2608" y="268833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360C"/>
                </a:solidFill>
              </a:rPr>
              <a:t>✕  ClassCastException in DoctorService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53128" y="268833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✓  Added instanceof check before casting User → Doctor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3218688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218688"/>
            <a:ext cx="4160520" cy="512064"/>
          </a:xfrm>
          <a:prstGeom prst="rect">
            <a:avLst/>
          </a:prstGeom>
          <a:solidFill>
            <a:srgbClr val="FFF3E0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43400" y="3218688"/>
            <a:ext cx="4526280" cy="512064"/>
          </a:xfrm>
          <a:prstGeom prst="rect">
            <a:avLst/>
          </a:prstGeom>
          <a:solidFill>
            <a:srgbClr val="E8F5E9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326440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360C"/>
                </a:solidFill>
              </a:rPr>
              <a:t>✕  DataInitializer: one failure aborted all setup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53128" y="32644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✓  Split into 4 independent try-catch blocks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" y="3794760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3794760"/>
            <a:ext cx="4160520" cy="512064"/>
          </a:xfrm>
          <a:prstGeom prst="rect">
            <a:avLst/>
          </a:prstGeom>
          <a:solidFill>
            <a:srgbClr val="FFF3E0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343400" y="3794760"/>
            <a:ext cx="4526280" cy="512064"/>
          </a:xfrm>
          <a:prstGeom prst="rect">
            <a:avLst/>
          </a:prstGeom>
          <a:solidFill>
            <a:srgbClr val="E8F5E9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92608" y="38404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360C"/>
                </a:solidFill>
              </a:rPr>
              <a:t>✕  Blank dashboards after login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53128" y="384048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✓  Moved loadDoctorInfo() before initComponents() in constructor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4370832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82880" y="4370832"/>
            <a:ext cx="4160520" cy="512064"/>
          </a:xfrm>
          <a:prstGeom prst="rect">
            <a:avLst/>
          </a:prstGeom>
          <a:solidFill>
            <a:srgbClr val="FFF3E0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43400" y="4370832"/>
            <a:ext cx="4526280" cy="512064"/>
          </a:xfrm>
          <a:prstGeom prst="rect">
            <a:avLst/>
          </a:prstGeom>
          <a:solidFill>
            <a:srgbClr val="E8F5E9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2608" y="44165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360C"/>
                </a:solidFill>
              </a:rPr>
              <a:t>✕  Notifications never appeared on dashboards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53128" y="441655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✓  Fixed recipient ID: changed doctorId → 'U-' + doctorId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Current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82296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509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No Real 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887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Data stored in plain JSON files — no query language, no indexing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490472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1490472"/>
            <a:ext cx="82296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527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No Password Hashing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7647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Passwords stored as plain text — not suitable for production 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066544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2066544"/>
            <a:ext cx="82296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103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No Network Access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34086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Purely desktop — no web interface, no mobile support, single machine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2642616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2642616"/>
            <a:ext cx="82296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6791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No User Registration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291693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Only Admin can add users — patients cannot self-register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3218688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3218688"/>
            <a:ext cx="82296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32552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No Billing Module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493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Bed daily charges tracked but no invoice or payment processing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3794760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794760"/>
            <a:ext cx="82296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3831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No Appointment Reminders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" y="406908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No email or SMS alerts sent to patients or doctors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" y="4370832"/>
            <a:ext cx="8686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2880" y="4370832"/>
            <a:ext cx="82296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4407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No Audit Trail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" y="46451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No logging of who changed what and when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Improvements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50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5196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82296" cy="12435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Database 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Replace JSON files with SQLite or PostgreSQL for better performance and real queries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5196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82296" cy="12435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Password 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3898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Hash passwords using BCrypt before storing — never store plain 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2331720"/>
            <a:ext cx="425196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2331720"/>
            <a:ext cx="82296" cy="12435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Web / REST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28072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Build a Spring Boot REST API so the system works in a browser or mobile 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425196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82296" cy="12435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64608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Self-Registration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28072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Allow patients to register their own accounts with email verification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3749040"/>
            <a:ext cx="425196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3749040"/>
            <a:ext cx="82296" cy="12435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Reports &amp; Analytics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42245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Discharge summaries, bed occupancy reports, doctor performance charts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749040"/>
            <a:ext cx="425196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3749040"/>
            <a:ext cx="82296" cy="12435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64608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Email Notifications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42245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Send appointment reminders and confirmations via SMTP / SendGrid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51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82296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87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OOP in Practice: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80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</a:rPr>
              <a:t>All 4 OOP pillars applied: Inheritance (User hierarchy), Encapsulation (private fields), Polymorphism (getDisplayInfo), Abstraction (JsonRepository, User)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" y="1746504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1746504"/>
            <a:ext cx="82296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819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Layered Architecture: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211226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</a:rPr>
              <a:t>UI → Service → Repository separation makes the codebase maintainable and testable independently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82880" y="2578608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2578608"/>
            <a:ext cx="82296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Persistent Storage: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29443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</a:rPr>
              <a:t>Gson JSON file storage provides full persistence with no external database dependency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2880" y="3410712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3410712"/>
            <a:ext cx="82296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483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Role-Based Access: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7764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</a:rPr>
              <a:t>Single login screen routes to three completely different dashboards based on the user's role field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82880" y="4242816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4242816"/>
            <a:ext cx="82296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Defensive Programming: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460857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</a:rPr>
              <a:t>Multiple layers of validation + custom exceptions + proper instanceof checks prevent runtime crashes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52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4023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Implementation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Language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Java 21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Entire project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UI Framework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Java Swing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com.hospital.ui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Storage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JSON files via Gson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data/*.json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OOP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Inheritance, Encapsulation, Polymorphism, Abstraction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model, service, data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Authentication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Role-based login (3 roles)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AuthService + LoginFrame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DocumentFilter + custom checks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ui + ValidationUtil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Thread Safety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ReentrantReadWriteLock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JsonRepository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Error Handling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 custom exception classes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com.hospital.exception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Seed Data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DataInitializer (run once)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com.hospital.util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7315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FD8DC"/>
                </a:solidFill>
              </a:rPr>
              <a:t>Successfully built a fully functional desktop Hospital Management System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FD8DC"/>
                </a:solidFill>
              </a:rPr>
              <a:t>Demonstrated all 4 pillars of OOP with real working code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FD8DC"/>
                </a:solidFill>
              </a:rPr>
              <a:t>Implemented persistent data storage using Gson JSON serialization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FD8DC"/>
                </a:solidFill>
              </a:rPr>
              <a:t>Applied layered architecture: UI → Service → Repository → Files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FD8DC"/>
                </a:solidFill>
              </a:rPr>
              <a:t>Fixed 7 real bugs including critical Gson deserialization failure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FD8DC"/>
                </a:solidFill>
              </a:rPr>
              <a:t>Improved UI/UX: validation, ComboBoxes, placeholder text, role-based dashboards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A4AE"/>
                </a:solidFill>
              </a:rPr>
              <a:t>This project demonstrates applied Java software engineering — from OOP design to a working desktop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0" y="822960"/>
            <a:ext cx="274320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8229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HMS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00400" y="3218688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3649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A4AE"/>
                </a:solidFill>
              </a:rPr>
              <a:t>Hospital Management System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</a:rPr>
              <a:t>Java · Swing · Gson · JSON Persistence · 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897B"/>
                </a:solidFill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login page for role ">
            <a:extLst>
              <a:ext uri="{FF2B5EF4-FFF2-40B4-BE49-F238E27FC236}">
                <a16:creationId xmlns:a16="http://schemas.microsoft.com/office/drawing/2014/main" id="{ADFD00AD-FECC-255E-D7C3-063EF47096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8178"/>
          <a:stretch>
            <a:fillRect/>
          </a:stretch>
        </p:blipFill>
        <p:spPr>
          <a:xfrm>
            <a:off x="434274" y="434273"/>
            <a:ext cx="8275452" cy="427432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69C9563-3F88-F4E8-69B1-522A21F2E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4274" y="4616075"/>
            <a:ext cx="8275452" cy="92522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96B58CA-5165-43D0-E5AA-7EB35159F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445985-8854-4E17-9010-F0B467A86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4175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 screen">
            <a:extLst>
              <a:ext uri="{FF2B5EF4-FFF2-40B4-BE49-F238E27FC236}">
                <a16:creationId xmlns:a16="http://schemas.microsoft.com/office/drawing/2014/main" id="{9E097E5C-9F56-B05D-7907-B3CF3D6AB0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" r="313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115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admin dashboard">
            <a:extLst>
              <a:ext uri="{FF2B5EF4-FFF2-40B4-BE49-F238E27FC236}">
                <a16:creationId xmlns:a16="http://schemas.microsoft.com/office/drawing/2014/main" id="{093AD7C5-CA48-D2CD-E6D8-B439532AC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37"/>
            <a:ext cx="9144000" cy="511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17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155226A-238E-9DB2-E3CD-5B59454F3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"/>
            <a:ext cx="9144000" cy="514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39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A387A82-3F83-AC91-7104-8DE43206C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"/>
            <a:ext cx="9144000" cy="514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329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84BEED0-1B5E-720F-77DC-03DA129B1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02"/>
            <a:ext cx="9144000" cy="510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102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Likely Q&amp;A Topics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DEFB"/>
                </a:solidFill>
              </a:rPr>
              <a:t>54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4008" cy="43662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509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Q: Why not use a database?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161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A: JSON files are sufficient for a desktop app without a server. Adding SQLite is a simple future improvement.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572768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6093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Q: How does login work?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A: AuthService.findByUsername() looks up the user, checks the password, and stores the User object in currentUser.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231136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267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Q: How does Gson handle abstract User?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2532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A: UserDeserializer reads the 'role' field and calls context.deserialize() with the correct subtype class.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2889504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926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Q: Is the data secure?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1912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A: No — passwords are plain text. This is a learning project. BCrypt hashing would be added in production.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3547872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584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Q: Can two admins log in at once?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849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A: No shared session — this is a single-user desktop app with no network.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4206240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242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Q: Why are patients saved twice?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507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A: PatientRepository for patient-specific search; UserRepository for login authentication.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5730</Words>
  <Application>Microsoft Office PowerPoint</Application>
  <PresentationFormat>On-screen Show (16:9)</PresentationFormat>
  <Paragraphs>991</Paragraphs>
  <Slides>61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PptxGenJS Presentation</dc:subject>
  <dc:creator>CS Presentation</dc:creator>
  <cp:lastModifiedBy>RUPESH DAHAL</cp:lastModifiedBy>
  <cp:revision>7</cp:revision>
  <dcterms:created xsi:type="dcterms:W3CDTF">2026-03-20T18:32:35Z</dcterms:created>
  <dcterms:modified xsi:type="dcterms:W3CDTF">2026-04-03T04:08:39Z</dcterms:modified>
</cp:coreProperties>
</file>